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4" r:id="rId5"/>
    <p:sldId id="266" r:id="rId6"/>
    <p:sldId id="259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F8874D-6D19-4EA1-A0A4-5307CCA69F3D}" v="73" dt="2025-12-10T01:39:17.687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338" autoAdjust="0"/>
    <p:restoredTop sz="94660"/>
  </p:normalViewPr>
  <p:slideViewPr>
    <p:cSldViewPr snapToGrid="0">
      <p:cViewPr varScale="1">
        <p:scale>
          <a:sx n="46" d="100"/>
          <a:sy n="46" d="100"/>
        </p:scale>
        <p:origin x="41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690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52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0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077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4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10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2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50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42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27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2867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rticle.io/iot-guides-and-resources/iot-secure-boot/" TargetMode="External"/><Relationship Id="rId2" Type="http://schemas.openxmlformats.org/officeDocument/2006/relationships/hyperlink" Target="https://www.praetorian.com/blog/why-are-jtag-and-uart-still-effective-attack-vectors-for-iot-device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t.com/resource/en/application_note/an5156-introduction-to-security-for-stm32-mcus-stmicroelectronics.pdf" TargetMode="External"/><Relationship Id="rId4" Type="http://schemas.openxmlformats.org/officeDocument/2006/relationships/hyperlink" Target="https://nvd.nist.gov/vuln/detail/CVE-2024-32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Ethical Hacking Final</a:t>
            </a:r>
            <a:br>
              <a:rPr lang="en-US" dirty="0"/>
            </a:br>
            <a:r>
              <a:rPr lang="en-US" dirty="0" err="1"/>
              <a:t>cosc</a:t>
            </a:r>
            <a:r>
              <a:rPr lang="en-US" dirty="0"/>
              <a:t> 6840 </a:t>
            </a:r>
            <a:br>
              <a:rPr lang="en-US" dirty="0"/>
            </a:br>
            <a:r>
              <a:rPr lang="en-US" dirty="0"/>
              <a:t>Hardware Security Assessment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515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Kevin Umba</a:t>
            </a:r>
          </a:p>
          <a:p>
            <a:pPr algn="ctr"/>
            <a:r>
              <a:rPr lang="en-US" dirty="0"/>
              <a:t>12/9/2025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DECA-9BBF-0EC4-B5E0-22D0C257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A03F-F395-C800-3A61-2D8758B7F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Executive Summary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Findings</a:t>
            </a:r>
          </a:p>
          <a:p>
            <a:r>
              <a:rPr lang="en-US" dirty="0"/>
              <a:t>Risks and Fixes</a:t>
            </a:r>
          </a:p>
          <a:p>
            <a:r>
              <a:rPr lang="en-US" dirty="0"/>
              <a:t>Script and Demo</a:t>
            </a:r>
          </a:p>
          <a:p>
            <a:r>
              <a:rPr lang="en-US" dirty="0"/>
              <a:t>Recommendations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D2D31-BD14-0469-3E37-D76F24A0B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9908A-5976-4FFD-884B-1FC6313FE260}" type="datetime1">
              <a:rPr lang="en-US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0F6C8-FBF3-90BD-34B2-E39469870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B9BD-00CE-AB2E-FCFD-E523D1F0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44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7412-661A-60C9-0435-C7D750E55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226" y="28962"/>
            <a:ext cx="9238434" cy="857559"/>
          </a:xfrm>
        </p:spPr>
        <p:txBody>
          <a:bodyPr/>
          <a:lstStyle/>
          <a:p>
            <a:r>
              <a:rPr lang="en-US" dirty="0" err="1"/>
              <a:t>EXeCUTIVE</a:t>
            </a:r>
            <a:r>
              <a:rPr lang="en-US" dirty="0"/>
              <a:t>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63954-ED68-080E-5967-8097CB223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89254"/>
            <a:ext cx="10668000" cy="2379856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Objective</a:t>
            </a:r>
            <a:r>
              <a:rPr lang="en-US" dirty="0"/>
              <a:t>: </a:t>
            </a:r>
            <a:r>
              <a:rPr lang="en-US" dirty="0" err="1"/>
              <a:t>ThanosTech</a:t>
            </a:r>
            <a:r>
              <a:rPr lang="en-US" dirty="0"/>
              <a:t> LLC - The objective is to uncover weaknesses, of IoT devices and recommend fixes. </a:t>
            </a:r>
          </a:p>
          <a:p>
            <a:r>
              <a:rPr lang="en-US" b="1" dirty="0"/>
              <a:t>Major Findings</a:t>
            </a:r>
            <a:r>
              <a:rPr lang="en-US" dirty="0"/>
              <a:t>: Unprotected UART Debug Shell &amp; weak password, exposed flash memory. </a:t>
            </a:r>
          </a:p>
          <a:p>
            <a:r>
              <a:rPr lang="en-US" dirty="0"/>
              <a:t>Devices: STM32F103C8T6 Microcontroller (MCU), Winbond W25Q64JV External SPI Flash</a:t>
            </a:r>
          </a:p>
          <a:p>
            <a:r>
              <a:rPr lang="en-US" dirty="0"/>
              <a:t>Recommended Next step: </a:t>
            </a:r>
            <a:r>
              <a:rPr lang="en-US" b="1" dirty="0"/>
              <a:t>strongly advice </a:t>
            </a:r>
            <a:r>
              <a:rPr lang="en-US" dirty="0"/>
              <a:t>to recall devices as these vulnerabilities are easily actionable and may lead to </a:t>
            </a:r>
            <a:r>
              <a:rPr lang="en-US" b="1" dirty="0"/>
              <a:t>massive intellectual property and revenue loss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32F32-FA36-7540-9C5E-48BDA337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80D9-83C5-4190-816E-6F60D46700EE}" type="datetime1">
              <a:rPr lang="en-US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9331D-C5E0-6484-5A4C-2AB7AEF1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F486-2433-A898-AD55-DFC94C04C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BA6B2ED-A76B-2F43-5084-5FA476696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69569"/>
              </p:ext>
            </p:extLst>
          </p:nvPr>
        </p:nvGraphicFramePr>
        <p:xfrm>
          <a:off x="762000" y="4208724"/>
          <a:ext cx="9318940" cy="13893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64573">
                  <a:extLst>
                    <a:ext uri="{9D8B030D-6E8A-4147-A177-3AD203B41FA5}">
                      <a16:colId xmlns:a16="http://schemas.microsoft.com/office/drawing/2014/main" val="1685191380"/>
                    </a:ext>
                  </a:extLst>
                </a:gridCol>
                <a:gridCol w="3437616">
                  <a:extLst>
                    <a:ext uri="{9D8B030D-6E8A-4147-A177-3AD203B41FA5}">
                      <a16:colId xmlns:a16="http://schemas.microsoft.com/office/drawing/2014/main" val="3006527108"/>
                    </a:ext>
                  </a:extLst>
                </a:gridCol>
                <a:gridCol w="1349871">
                  <a:extLst>
                    <a:ext uri="{9D8B030D-6E8A-4147-A177-3AD203B41FA5}">
                      <a16:colId xmlns:a16="http://schemas.microsoft.com/office/drawing/2014/main" val="204341010"/>
                    </a:ext>
                  </a:extLst>
                </a:gridCol>
                <a:gridCol w="3766880">
                  <a:extLst>
                    <a:ext uri="{9D8B030D-6E8A-4147-A177-3AD203B41FA5}">
                      <a16:colId xmlns:a16="http://schemas.microsoft.com/office/drawing/2014/main" val="229729970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Risk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Device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Mitigation 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2925585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Unprotected UART peripheral exposing development information, credentials 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Disable or solder UART pins</a:t>
                      </a:r>
                      <a:b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secure bootloader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8469632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100" kern="1200" dirty="0">
                        <a:solidFill>
                          <a:srgbClr val="FFC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Weak password exposed in debug shell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Salted hashing and password complexity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Rotate &amp; Revoke passwords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334362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</a:t>
                      </a:r>
                      <a:endParaRPr lang="en-US" sz="1100" kern="1200" dirty="0">
                        <a:solidFill>
                          <a:srgbClr val="00B0F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Flash memory exposed potentially leaking firmware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 &amp; Winbond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RDP1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75732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20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092B-A454-1599-044D-B61A27520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035F-0E79-B049-33F5-2519CECD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962"/>
            <a:ext cx="9238434" cy="857559"/>
          </a:xfrm>
        </p:spPr>
        <p:txBody>
          <a:bodyPr/>
          <a:lstStyle/>
          <a:p>
            <a:r>
              <a:rPr lang="en-US" err="1"/>
              <a:t>MEthodology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66AD-0C65-3BC3-DF81-84B71A2E6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79095"/>
            <a:ext cx="3548743" cy="22499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OSINT &amp; Device Info</a:t>
            </a:r>
          </a:p>
          <a:p>
            <a:pPr marL="0" indent="0">
              <a:buNone/>
            </a:pPr>
            <a:r>
              <a:rPr lang="en-US" dirty="0"/>
              <a:t>Collected device connection layout, memory mapping, UART data streams via manufacturer datasheets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E7D93-E502-3D97-6845-FCA4F0D4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80D9-83C5-4190-816E-6F60D46700EE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F632A-439C-F5EF-22C9-ADB2360E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850C5-89C3-D156-4FC1-2B71143A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73B64D-05B4-1E3C-901B-F418D9471FD7}"/>
              </a:ext>
            </a:extLst>
          </p:cNvPr>
          <p:cNvSpPr txBox="1"/>
          <p:nvPr/>
        </p:nvSpPr>
        <p:spPr>
          <a:xfrm>
            <a:off x="5234143" y="1192290"/>
            <a:ext cx="63910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UART Data Streams (Finding 1&amp;5)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Tools: FT232 USB-UART adapter, screen, </a:t>
            </a:r>
            <a:r>
              <a:rPr lang="en-US" dirty="0" err="1"/>
              <a:t>usbipd</a:t>
            </a:r>
            <a:endParaRPr lang="en-US" dirty="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 Investigated default USART pins at different baud rates to access debug and secret data streams.</a:t>
            </a:r>
          </a:p>
        </p:txBody>
      </p:sp>
      <p:pic>
        <p:nvPicPr>
          <p:cNvPr id="10" name="Picture 9" descr="A close-up of a document&#10;&#10;AI-generated content may be incorrect.">
            <a:extLst>
              <a:ext uri="{FF2B5EF4-FFF2-40B4-BE49-F238E27FC236}">
                <a16:creationId xmlns:a16="http://schemas.microsoft.com/office/drawing/2014/main" id="{86325ED7-2FAD-32F1-9CC5-3C79B811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941" y="3513955"/>
            <a:ext cx="2699107" cy="1023099"/>
          </a:xfrm>
          <a:prstGeom prst="rect">
            <a:avLst/>
          </a:prstGeom>
        </p:spPr>
      </p:pic>
      <p:pic>
        <p:nvPicPr>
          <p:cNvPr id="12" name="Picture 11" descr="A close-up of a flash memory&#10;&#10;AI-generated content may be incorrect.">
            <a:extLst>
              <a:ext uri="{FF2B5EF4-FFF2-40B4-BE49-F238E27FC236}">
                <a16:creationId xmlns:a16="http://schemas.microsoft.com/office/drawing/2014/main" id="{99BA322C-CC6C-7C40-117A-89E7167E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1" y="4827780"/>
            <a:ext cx="2333625" cy="1524000"/>
          </a:xfrm>
          <a:prstGeom prst="rect">
            <a:avLst/>
          </a:prstGeom>
        </p:spPr>
      </p:pic>
      <p:pic>
        <p:nvPicPr>
          <p:cNvPr id="13" name="Picture 12" descr="PB12 &#10;PB13 &#10;GND &#10;PB14 &#10;GND &#10;RESET &#10;PB15 &#10;03 &#10;5 3V3 &#10;DC15 &#10;19 R10 &#10;TOR11 &#10;PA8 &#10;~86º87488A_Y5_241101 &#10;RST &#10;PA9 &#10;BOOTO &#10;PB11 &#10;PA10 &#10;B10 &#10;-1 &#10;PA11 &#10;PB1 &#10;/PA12 &#10;C11 &#10;O &#10;PBO &#10;PA15 &#10;PA7 &#10;5C10 &#10;/ PB3 &#10;PA6 &#10;PB4 &#10;PA5 &#10;PB5 &#10;PA4 &#10;/PB6 &#10;PA3 &#10;PB7 &#10;PA2 &#10;PB8 &#10;PA1 &#10;50C14 &#10;PAO &#10;C13 &#10;PC15 &#10;5V &#10;GND &#10;LUC12 &#10;PC14 &#10;PC13 &#10;3V3 &#10;LX &#10;VBAT &#10;3.5V DIR &#10;CI LD &#10;SWDCLK &#10;RISC &#10;SWDIO + &#10;GND &#10;3V3 ₺ &#10;U5 &#10;D &#10;D2 &#10;DCD RSD ">
            <a:extLst>
              <a:ext uri="{FF2B5EF4-FFF2-40B4-BE49-F238E27FC236}">
                <a16:creationId xmlns:a16="http://schemas.microsoft.com/office/drawing/2014/main" id="{D7EA5E20-E2C2-D360-404A-A2FB788DD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464" y="3219853"/>
            <a:ext cx="2176145" cy="29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BE75C8-8D86-6CFC-EA84-78662D12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217" y="3214719"/>
            <a:ext cx="4069080" cy="121602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16106D-CA94-21F4-4681-7DE31D9E3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572" y="4754686"/>
            <a:ext cx="3657600" cy="99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6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3665E-24AA-4203-CA56-275B298E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26CE3-267D-B4EB-BC30-6C3F6C3F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962"/>
            <a:ext cx="9238434" cy="857559"/>
          </a:xfrm>
        </p:spPr>
        <p:txBody>
          <a:bodyPr/>
          <a:lstStyle/>
          <a:p>
            <a:r>
              <a:rPr lang="en-US" err="1"/>
              <a:t>MEthodology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3999-CBB4-A0DE-DBB2-76384566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179096"/>
            <a:ext cx="3518790" cy="215265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Password Extraction (Finding 2)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Tools: John The Ripper, </a:t>
            </a:r>
            <a:r>
              <a:rPr lang="en-US" dirty="0" err="1"/>
              <a:t>rockyou</a:t>
            </a:r>
            <a:r>
              <a:rPr lang="en-US" dirty="0"/>
              <a:t> list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Discovered the password in the </a:t>
            </a:r>
            <a:r>
              <a:rPr lang="en-US" dirty="0" err="1"/>
              <a:t>unautheticated</a:t>
            </a:r>
            <a:r>
              <a:rPr lang="en-US" dirty="0"/>
              <a:t> UART debug shell. The hash was easily reversible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91050-A8D1-A8F1-2D30-7DF95BD8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580D9-83C5-4190-816E-6F60D46700EE}" type="datetime1">
              <a:rPr lang="en-US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3138D-C82E-8971-58E2-22BF9AE4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29D63-2994-1BD1-92FC-137D1487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8AFDE-A902-6AB2-4FCC-369C275E779A}"/>
              </a:ext>
            </a:extLst>
          </p:cNvPr>
          <p:cNvSpPr txBox="1"/>
          <p:nvPr/>
        </p:nvSpPr>
        <p:spPr>
          <a:xfrm>
            <a:off x="4764199" y="1179096"/>
            <a:ext cx="68609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Flash Memory Extraction (Finding 3&amp;4)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Tools: ST-Link V2, CH341A, </a:t>
            </a:r>
            <a:r>
              <a:rPr lang="en-US" dirty="0" err="1"/>
              <a:t>openOCD</a:t>
            </a:r>
            <a:r>
              <a:rPr lang="en-US" dirty="0"/>
              <a:t>, telnet, </a:t>
            </a:r>
            <a:r>
              <a:rPr lang="en-US" dirty="0" err="1"/>
              <a:t>flashrom</a:t>
            </a:r>
            <a:r>
              <a:rPr lang="en-US" dirty="0"/>
              <a:t>, Hexed.it 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dirty="0"/>
              <a:t>Used the debugging hardware and the memory mapping in the datasheet to perform the flash dump.</a:t>
            </a:r>
          </a:p>
        </p:txBody>
      </p:sp>
      <p:pic>
        <p:nvPicPr>
          <p:cNvPr id="9" name="Picture 8" descr="A green circuit board with black wires&#10;&#10;AI-generated content may be incorrect.">
            <a:extLst>
              <a:ext uri="{FF2B5EF4-FFF2-40B4-BE49-F238E27FC236}">
                <a16:creationId xmlns:a16="http://schemas.microsoft.com/office/drawing/2014/main" id="{299C40A7-3807-DF6F-614A-B43615D76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781" y="2948999"/>
            <a:ext cx="3107970" cy="1838497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16AA50-13DE-82D6-9CCD-BDDCDFB02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080" y="2953290"/>
            <a:ext cx="3386217" cy="1567885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991EAA2-FD6E-03D3-9A1A-3CC282728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93698"/>
            <a:ext cx="3082925" cy="2152650"/>
          </a:xfrm>
          <a:prstGeom prst="rect">
            <a:avLst/>
          </a:prstGeom>
        </p:spPr>
      </p:pic>
      <p:pic>
        <p:nvPicPr>
          <p:cNvPr id="13" name="Picture 12" descr="A green circuit board with wires and wires&#10;&#10;AI-generated content may be incorrect.">
            <a:extLst>
              <a:ext uri="{FF2B5EF4-FFF2-40B4-BE49-F238E27FC236}">
                <a16:creationId xmlns:a16="http://schemas.microsoft.com/office/drawing/2014/main" id="{B493B3F5-8C8D-D790-4D6A-7107A5628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345" y="5075594"/>
            <a:ext cx="1587310" cy="1541508"/>
          </a:xfrm>
          <a:prstGeom prst="rect">
            <a:avLst/>
          </a:prstGeom>
        </p:spPr>
      </p:pic>
      <p:pic>
        <p:nvPicPr>
          <p:cNvPr id="14" name="Picture 13" descr="A close up of a device&#10;&#10;AI-generated content may be incorrect.">
            <a:extLst>
              <a:ext uri="{FF2B5EF4-FFF2-40B4-BE49-F238E27FC236}">
                <a16:creationId xmlns:a16="http://schemas.microsoft.com/office/drawing/2014/main" id="{2D30F6BA-B69D-510A-CB5C-ACCC88698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7600" y="5075594"/>
            <a:ext cx="1097548" cy="1651162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46FFC9C-DE12-92B4-7885-0313AA23A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519" y="5153759"/>
            <a:ext cx="3500755" cy="105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E575-A915-384E-B106-6470CEB66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962"/>
            <a:ext cx="9238434" cy="857559"/>
          </a:xfrm>
        </p:spPr>
        <p:txBody>
          <a:bodyPr/>
          <a:lstStyle/>
          <a:p>
            <a:r>
              <a:rPr lang="en-US" dirty="0"/>
              <a:t>Findings &amp; Flags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0EBB-C32A-7670-4A81-8B8BA49E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B1CE-D96A-43F0-BAEB-9E6B05263505}" type="datetime1">
              <a:rPr lang="en-US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60BA-F158-B7A8-062C-89E6BED2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9330E-0DB7-46BF-D0F3-AD8694FC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204D54-2AC0-2A3C-48E0-7A39DE228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249227"/>
              </p:ext>
            </p:extLst>
          </p:nvPr>
        </p:nvGraphicFramePr>
        <p:xfrm>
          <a:off x="508000" y="1535119"/>
          <a:ext cx="10729621" cy="26339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980587">
                  <a:extLst>
                    <a:ext uri="{9D8B030D-6E8A-4147-A177-3AD203B41FA5}">
                      <a16:colId xmlns:a16="http://schemas.microsoft.com/office/drawing/2014/main" val="2617990817"/>
                    </a:ext>
                  </a:extLst>
                </a:gridCol>
                <a:gridCol w="3375613">
                  <a:extLst>
                    <a:ext uri="{9D8B030D-6E8A-4147-A177-3AD203B41FA5}">
                      <a16:colId xmlns:a16="http://schemas.microsoft.com/office/drawing/2014/main" val="754768657"/>
                    </a:ext>
                  </a:extLst>
                </a:gridCol>
                <a:gridCol w="1036319">
                  <a:extLst>
                    <a:ext uri="{9D8B030D-6E8A-4147-A177-3AD203B41FA5}">
                      <a16:colId xmlns:a16="http://schemas.microsoft.com/office/drawing/2014/main" val="3047012013"/>
                    </a:ext>
                  </a:extLst>
                </a:gridCol>
                <a:gridCol w="4337102">
                  <a:extLst>
                    <a:ext uri="{9D8B030D-6E8A-4147-A177-3AD203B41FA5}">
                      <a16:colId xmlns:a16="http://schemas.microsoft.com/office/drawing/2014/main" val="20112191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Finding 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Impact 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Risk Score 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>
                          <a:effectLst/>
                        </a:rPr>
                        <a:t>Mitigation </a:t>
                      </a:r>
                      <a:endParaRPr lang="en-US"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4388178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Exposed UART Debug Interface:</a:t>
                      </a:r>
                    </a:p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Finding 1&amp;5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The exposed UART peripherals are well known attack vectors and are cheap and easy to exploit [1]. This could reveal intellectual property and configurations.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Disable UART in production or headers.</a:t>
                      </a:r>
                    </a:p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Use secure bootloader for authentication and block code execution. [2]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33447695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Weak Password Policy and Storage: finding 2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Password is susceptible to brute force</a:t>
                      </a:r>
                    </a:p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The password was exposed on unauthenticated UART.</a:t>
                      </a:r>
                    </a:p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The hash is unsalted and the plaintext is easily guessable.</a:t>
                      </a: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Adopt complex password requirements </a:t>
                      </a:r>
                    </a:p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 salted hashing (</a:t>
                      </a:r>
                      <a:r>
                        <a:rPr lang="en-US" sz="1100" b="0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bcrypt</a:t>
                      </a: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</a:t>
                      </a:r>
                    </a:p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Revoke credentials and removing from publicly available interfaces [3].</a:t>
                      </a:r>
                      <a:endParaRPr lang="en-US" sz="1100" b="0" i="0" u="none" strike="noStrike" noProof="0" dirty="0">
                        <a:solidFill>
                          <a:srgbClr val="000000"/>
                        </a:solidFill>
                        <a:effectLst/>
                        <a:latin typeface="Trade Gothic Next Light"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29653986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Unprotected Flash Memory: findings 3 &amp; 4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May expose firmware, intellectual property.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100" dirty="0">
                          <a:effectLst/>
                        </a:rPr>
                        <a:t>SWD and unencrypted external flash memory are the most basic attacks for IoT devices. STM32 suite does not support hardware encryption, making it more vulnerable. [4]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35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effectLst/>
                        </a:rPr>
                        <a:t>High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If SWD is needed for operation, consider enabling readout protection at level 1 to prevent access to memory. [4]</a:t>
                      </a: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74009899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2F7BA1-5A76-5AB2-5E9A-FC2872918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901001"/>
              </p:ext>
            </p:extLst>
          </p:nvPr>
        </p:nvGraphicFramePr>
        <p:xfrm>
          <a:off x="507999" y="5073881"/>
          <a:ext cx="10729621" cy="115698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708278">
                  <a:extLst>
                    <a:ext uri="{9D8B030D-6E8A-4147-A177-3AD203B41FA5}">
                      <a16:colId xmlns:a16="http://schemas.microsoft.com/office/drawing/2014/main" val="2137343906"/>
                    </a:ext>
                  </a:extLst>
                </a:gridCol>
                <a:gridCol w="3842622">
                  <a:extLst>
                    <a:ext uri="{9D8B030D-6E8A-4147-A177-3AD203B41FA5}">
                      <a16:colId xmlns:a16="http://schemas.microsoft.com/office/drawing/2014/main" val="520083796"/>
                    </a:ext>
                  </a:extLst>
                </a:gridCol>
                <a:gridCol w="6178721">
                  <a:extLst>
                    <a:ext uri="{9D8B030D-6E8A-4147-A177-3AD203B41FA5}">
                      <a16:colId xmlns:a16="http://schemas.microsoft.com/office/drawing/2014/main" val="4156838135"/>
                    </a:ext>
                  </a:extLst>
                </a:gridCol>
              </a:tblGrid>
              <a:tr h="260090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Finding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Proof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50"/>
                        </a:lnSpc>
                        <a:buNone/>
                      </a:pPr>
                      <a:r>
                        <a:rPr lang="en-US" sz="1100" dirty="0">
                          <a:effectLst/>
                        </a:rPr>
                        <a:t>Flag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/>
                </a:tc>
                <a:extLst>
                  <a:ext uri="{0D108BD9-81ED-4DB2-BD59-A6C34878D82A}">
                    <a16:rowId xmlns:a16="http://schemas.microsoft.com/office/drawing/2014/main" val="1821902022"/>
                  </a:ext>
                </a:extLst>
              </a:tr>
              <a:tr h="179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HKOIzW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)LmTW5KMUaVVCSm[Nc)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QSaSf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)H\I|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FLAG{I’M_RX’ING_WHAT_YOU’RE_TX’ING}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1752448"/>
                  </a:ext>
                </a:extLst>
              </a:tr>
              <a:tr h="179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HKOIzQCMm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NcaB`CBYaLS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FLAG{CAN_YOU_CRACK_ME}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5663003"/>
                  </a:ext>
                </a:extLst>
              </a:tr>
              <a:tr h="179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HKOIzQQMaKCST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^[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G^RGAcIFSF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FLAG{CONSIDER_ME_DEBUGGED}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9268092"/>
                  </a:ext>
                </a:extLst>
              </a:tr>
              <a:tr h="179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HKOIzaYDSV^aYDSV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^[GL]THSU|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FLAG{SWEET_SWEET_MEMORIES}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8394335"/>
                  </a:ext>
                </a:extLst>
              </a:tr>
              <a:tr h="17937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HKOIzRQTPNDmVGSaTOTSmFNcDKSaSVG^TWM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FLAG{DOUBLE_THE_UART_DOUBLE_THE_FUN}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8937668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D9CECFF-7142-FCC3-589F-8C89EE40CCC8}"/>
              </a:ext>
            </a:extLst>
          </p:cNvPr>
          <p:cNvSpPr txBox="1">
            <a:spLocks/>
          </p:cNvSpPr>
          <p:nvPr/>
        </p:nvSpPr>
        <p:spPr>
          <a:xfrm>
            <a:off x="507999" y="1055874"/>
            <a:ext cx="2862054" cy="438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MCU &amp; Winbond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84CA0D-890F-3DBD-9AF3-32560224BF5A}"/>
              </a:ext>
            </a:extLst>
          </p:cNvPr>
          <p:cNvSpPr txBox="1">
            <a:spLocks/>
          </p:cNvSpPr>
          <p:nvPr/>
        </p:nvSpPr>
        <p:spPr>
          <a:xfrm>
            <a:off x="507999" y="4465834"/>
            <a:ext cx="2862054" cy="438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Flags &amp; Proof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ACED-94FB-8A69-B548-FEE859FA3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Recommendation(s)/conclusion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67B52-DD19-4A2E-3DEF-ECC03B812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Findings: critically vulnerable to simple, low cost and quick attacks. </a:t>
            </a:r>
          </a:p>
          <a:p>
            <a:r>
              <a:rPr lang="en-US" dirty="0"/>
              <a:t>Impact: peripherals and flash memory expose internal data, firmware, intellectual property, resulting in major revenue loss.</a:t>
            </a:r>
          </a:p>
          <a:p>
            <a:r>
              <a:rPr lang="en-US" dirty="0"/>
              <a:t>Recommended next steps: </a:t>
            </a:r>
          </a:p>
          <a:p>
            <a:pPr lvl="2"/>
            <a:r>
              <a:rPr lang="en-US" sz="1600" b="1" dirty="0">
                <a:solidFill>
                  <a:srgbClr val="FF0000"/>
                </a:solidFill>
              </a:rPr>
              <a:t>Strongly consider recalling all affected products</a:t>
            </a:r>
            <a:r>
              <a:rPr lang="en-US" sz="1600" b="1" dirty="0"/>
              <a:t> </a:t>
            </a:r>
            <a:r>
              <a:rPr lang="en-US" sz="1600" dirty="0"/>
              <a:t>as they expose intellectual property and internal data. </a:t>
            </a:r>
          </a:p>
          <a:p>
            <a:pPr lvl="2"/>
            <a:r>
              <a:rPr lang="en-US" sz="1600" dirty="0"/>
              <a:t>Protect sensitive interfaces with authentication secure bootloader, remove or prevent reads on UART, SWD and SPI peripherals, enable readout protection and strong password policies.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D7080-C7CC-C75A-E621-11F95EF53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8169-57DF-4077-BD98-E005A3E31BE8}" type="datetime1">
              <a:rPr lang="en-US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CFEC1-8BC2-947B-AB92-37CCA9D0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A5D53-42F3-7100-998E-381A2506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02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96A01-2703-B195-4A04-225A6867A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26F8E-9B95-4BEB-1B23-B238C679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6557-2355-387A-B250-C80CEFD7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Praetorian. (2021, June 29). </a:t>
            </a:r>
            <a:r>
              <a:rPr lang="en-US" i="1" dirty="0"/>
              <a:t>Why are JTAG and UART still effective attack vectors for IoT devices?</a:t>
            </a:r>
            <a:r>
              <a:rPr lang="en-US" dirty="0"/>
              <a:t> Praetorian. </a:t>
            </a:r>
            <a:r>
              <a:rPr lang="en-US" u="sng" dirty="0">
                <a:hlinkClick r:id="rId2"/>
              </a:rPr>
              <a:t>https://www.praetorian.com/blog/why-are-jtag-and-uart-still-effective-attack-vectors-for-iot-devices/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Particle. (n.d.). </a:t>
            </a:r>
            <a:r>
              <a:rPr lang="en-US" i="1" dirty="0"/>
              <a:t>IoT secure boot.</a:t>
            </a:r>
            <a:r>
              <a:rPr lang="en-US" dirty="0"/>
              <a:t> Particle. </a:t>
            </a:r>
            <a:r>
              <a:rPr lang="en-US" u="sng" dirty="0">
                <a:hlinkClick r:id="rId3"/>
              </a:rPr>
              <a:t>https://www.particle.io/iot-guides-and-resources/iot-secure-boot/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National Institute of Standards and Technology. (2024). </a:t>
            </a:r>
            <a:r>
              <a:rPr lang="en-US" i="1" dirty="0"/>
              <a:t>CVE-2024-3263.</a:t>
            </a:r>
            <a:r>
              <a:rPr lang="en-US" dirty="0"/>
              <a:t> NVD. </a:t>
            </a:r>
            <a:r>
              <a:rPr lang="en-US" u="sng" dirty="0">
                <a:hlinkClick r:id="rId4"/>
              </a:rPr>
              <a:t>https://nvd.nist.gov/vuln/detail/CVE-2024-3263</a:t>
            </a:r>
            <a:r>
              <a:rPr lang="en-US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STMicroelectronics. (2020). </a:t>
            </a:r>
            <a:r>
              <a:rPr lang="en-US" i="1" dirty="0"/>
              <a:t>AN5156: Introduction to security for STM32 MCUs.</a:t>
            </a:r>
            <a:r>
              <a:rPr lang="en-US" dirty="0"/>
              <a:t> </a:t>
            </a:r>
            <a:r>
              <a:rPr lang="en-US" u="sng" dirty="0">
                <a:hlinkClick r:id="rId5"/>
              </a:rPr>
              <a:t>https://www.st.com/resource/en/application_note/an5156-introduction-to-security-for-stm32-mcus-stmicroelectronics.pdf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86E92-A691-C178-4AD0-39896208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28169-57DF-4077-BD98-E005A3E31BE8}" type="datetime1">
              <a:rPr lang="en-US"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E2EC1-63A1-FABA-5A94-705ABAD62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308AC-EFB3-F893-A701-886D90BD5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19524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Metadata/LabelInfo.xml><?xml version="1.0" encoding="utf-8"?>
<clbl:labelList xmlns:clbl="http://schemas.microsoft.com/office/2020/mipLabelMetadata">
  <clbl:label id="{abe32f68-c72d-420d-b5bd-750c63a268e4}" enabled="0" method="" siteId="{abe32f68-c72d-420d-b5bd-750c63a268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1021</TotalTime>
  <Words>804</Words>
  <Application>Microsoft Office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Trade Gothic Next Cond</vt:lpstr>
      <vt:lpstr>Trade Gothic Next Light</vt:lpstr>
      <vt:lpstr>PortalVTI</vt:lpstr>
      <vt:lpstr>Ethical Hacking Final cosc 6840  Hardware Security Assessment </vt:lpstr>
      <vt:lpstr>Agenda</vt:lpstr>
      <vt:lpstr>EXeCUTIVE SUMMARY</vt:lpstr>
      <vt:lpstr>MEthodology</vt:lpstr>
      <vt:lpstr>MEthodology</vt:lpstr>
      <vt:lpstr>Findings &amp; Flags</vt:lpstr>
      <vt:lpstr>Recommendation(s)/conclusion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Umba, Kevin</cp:lastModifiedBy>
  <cp:revision>151</cp:revision>
  <dcterms:created xsi:type="dcterms:W3CDTF">2025-10-06T13:19:18Z</dcterms:created>
  <dcterms:modified xsi:type="dcterms:W3CDTF">2026-01-13T23:39:55Z</dcterms:modified>
</cp:coreProperties>
</file>